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plantilla_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108960" cy="7863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194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</a:t>
            </a:r>
            <a:endParaRPr lang="en-US" sz="72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2461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una plataforma web de concentración colaborativa online con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 para mejorar la productividad en las actividades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en la ciudad de Loja</a:t>
            </a:r>
            <a:endParaRPr lang="en-US" sz="17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709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David Calle Hernández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David Paúl Rosales Herrera, Mgs.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trata SINKA?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11247120" cy="3291840"/>
          </a:xfrm>
          <a:prstGeom prst="roundRect">
            <a:avLst>
              <a:gd name="adj" fmla="val 4444"/>
            </a:avLst>
          </a:prstGeom>
          <a:solidFill>
            <a:srgbClr val="EAF4F2"/>
          </a:solidFill>
          <a:ln/>
        </p:spPr>
      </p:sp>
      <p:pic>
        <p:nvPicPr>
          <p:cNvPr id="7" name="Image 1" descr="/tmp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803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28346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colaborativa online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2148840" y="3429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que no se conocen, emparejadas al azar, enfocadas al mismo tiempo.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200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1" name="Image 2" descr="/tmp/icons/map-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244" y="4361688"/>
            <a:ext cx="585216" cy="5852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Ecuador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306824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4" name="Image 3" descr="/tmp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4361688"/>
            <a:ext cx="585216" cy="5852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398264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156448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7" name="Image 4" descr="/tmp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92" y="4361688"/>
            <a:ext cx="585216" cy="58521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47888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Pomodoro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procrastinación digital, en tres escalas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glob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75,5%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519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estudiantes a nivel mundial procrastinó en el último año (Kahoot!, 2024).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37304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map-pi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27432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1624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4611624" y="42519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universitarios ecuatorianos con conductas procrastinadoras ligadas al estrés académico.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17408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targe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728" y="27432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91728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8491728" y="42519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investigación local sobre el tema — una brecha que este estudio atiende.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18% de las personas tiene un sistema formal de gestión del tiempo.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general, cuatro pasos para llegar a él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33172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1F6F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de concentración colaborativa con emparejamiento aleatorio que mejore la productividad y reduzca la procrastinación.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9" name="Image 1" descr="/tmp/icons/book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041" y="363016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con literatura científica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44418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2" name="Image 2" descr="/tmp/icons/bar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259" y="3630168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35858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hábitos con una encuesta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31636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5" name="Image 3" descr="/tmp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477" y="3630168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23076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plataforma funcional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118854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8" name="Image 4" descr="/tmp/icons/check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695" y="3630168"/>
            <a:ext cx="585216" cy="5852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10294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uso, aceptación y resultados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Y TÉCNICAS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mixto + metodología híbrida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secuencial exploratorio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 (observación y conversación) → Cuantitativo (encuesta estructurada).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9" name="Image 1" descr="/tmp/icons/file-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363016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06824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2" name="Image 2" descr="/tmp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3630168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98264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respuestas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56448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5" name="Image 3" descr="/tmp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92" y="3630168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247888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desarrollo: SCRUM + Extreme Programming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5720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5720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Pre-Juego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749040" y="5349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25196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25196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5349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04672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0467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Post-Juego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preguntas que más pesaron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560320"/>
            <a:ext cx="5454396" cy="3017520"/>
          </a:xfrm>
          <a:prstGeom prst="roundRect">
            <a:avLst>
              <a:gd name="adj" fmla="val 4242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clo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246120"/>
            <a:ext cx="4905756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76,4%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5262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al menos una hora diaria en distracciones (Pregunta 1) — magnitud real del problema en Loja.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77356" y="2560320"/>
            <a:ext cx="5454396" cy="3017520"/>
          </a:xfrm>
          <a:prstGeom prst="roundRect">
            <a:avLst>
              <a:gd name="adj" fmla="val 4242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smil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8346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51676" y="3246120"/>
            <a:ext cx="4905756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49,1%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6551676" y="45262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interés alto en una sesión Pomodoro junto a un desconocido (Pregunta 6) — valida la idea central de SINKA.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1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SINKA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2035454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7" name="Image 1" descr="/tmp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19" y="2670048"/>
            <a:ext cx="585216" cy="585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337560"/>
            <a:ext cx="1852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 por afinidad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66974" y="2468880"/>
            <a:ext cx="2035454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0" name="Image 2" descr="/tmp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094" y="2670048"/>
            <a:ext cx="585216" cy="5852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58414" y="3337560"/>
            <a:ext cx="1852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sincronizado entre ambos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076749" y="2468880"/>
            <a:ext cx="2035454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3" name="Image 3" descr="/tmp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670048"/>
            <a:ext cx="585216" cy="5852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68189" y="3337560"/>
            <a:ext cx="1852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en foco · chat en descanso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86523" y="2468880"/>
            <a:ext cx="2035454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6" name="Image 4" descr="/tmp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42" y="2670048"/>
            <a:ext cx="585216" cy="5852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477963" y="3337560"/>
            <a:ext cx="1852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FocusCoins y rachas diarias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9696298" y="2468880"/>
            <a:ext cx="2035454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9" name="Image 5" descr="/tmp/icons/trending-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1417" y="2670048"/>
            <a:ext cx="585216" cy="58521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87738" y="3337560"/>
            <a:ext cx="1852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 en tiempo real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estudio solitario en una experiencia acompañada.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2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23160"/>
            <a:ext cx="2544318" cy="1828800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repea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08960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20040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dos semanas cada uno.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67278" y="2423160"/>
            <a:ext cx="2544318" cy="1828800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clo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598" y="2697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41598" y="3108960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3641598" y="320040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totales de construcción.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77356" y="2423160"/>
            <a:ext cx="2544318" cy="1828800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check-circ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26974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51676" y="3108960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6551676" y="320040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completadas.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187434" y="2423160"/>
            <a:ext cx="2544318" cy="1828800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9" name="Image 4" descr="/tmp/icons/trending-up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754" y="26974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61754" y="3108960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800" dirty="0"/>
          </a:p>
        </p:txBody>
      </p:sp>
      <p:sp>
        <p:nvSpPr>
          <p:cNvPr id="21" name="Text 14"/>
          <p:cNvSpPr txBox="1"/>
          <p:nvPr/>
        </p:nvSpPr>
        <p:spPr>
          <a:xfrm>
            <a:off x="9461754" y="320040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historia entregados.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Product Owner (autor) · Scrum Master (director de tesis) · Development Team (autor).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XP clave: desarrollo guiado por pruebas en gamificación — detectó 3 errores antes de producción.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3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7" name="Image 1" descr="/tmp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19" y="2670048"/>
            <a:ext cx="585216" cy="585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66974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0" name="Image 2" descr="/tmp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094" y="2670048"/>
            <a:ext cx="585216" cy="5852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58414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 REST + WebSocket)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076749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3" name="Image 3" descr="/tmp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670048"/>
            <a:ext cx="585216" cy="5852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68189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(cámara P2P, sin servidor)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86523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6" name="Image 4" descr="/tmp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42" y="2670048"/>
            <a:ext cx="585216" cy="5852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477963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9696298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9" name="Image 5" descr="/tmp/icons/git-bra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1417" y="2670048"/>
            <a:ext cx="585216" cy="58521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87738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costo $0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módulos de dominio comunicados por un bus de eventos interno.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4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verificada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check-circ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520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funcionales aprobados.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37304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27432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1624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4611624" y="3520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 automatizadas en servicios.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17408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sx="100000" sy="100000" kx="0" ky="0" algn="bl" rotWithShape="0" blurRad="101600" dist="38100" dir="540000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clo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728" y="27432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91728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8491728" y="35204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P95 en la comunicación por WebSocket.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verificado de extremo a extremo con dos usuarios reales en producción.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confirmó el proyecto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pic>
        <p:nvPicPr>
          <p:cNvPr id="6" name="Image 1" descr="/tmp/icons/book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2423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revisada sustentó Pomodoro + emparejamiento como estrategia.</a:t>
            </a:r>
            <a:endParaRPr lang="en-US" sz="1550" dirty="0"/>
          </a:p>
        </p:txBody>
      </p:sp>
      <p:pic>
        <p:nvPicPr>
          <p:cNvPr id="8" name="Image 2" descr="/tmp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3291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a 106 personas validó la idea antes de construirla.</a:t>
            </a:r>
            <a:endParaRPr lang="en-US" sz="1550" dirty="0"/>
          </a:p>
        </p:txBody>
      </p:sp>
      <p:pic>
        <p:nvPicPr>
          <p:cNvPr id="10" name="Image 3" descr="/tmp/icons/check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879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quedó en producción con los 6 sprints y 17 HU completados.</a:t>
            </a:r>
            <a:endParaRPr lang="en-US" sz="1550" dirty="0"/>
          </a:p>
        </p:txBody>
      </p:sp>
      <p:pic>
        <p:nvPicPr>
          <p:cNvPr id="12" name="Image 4" descr="/tmp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5663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técnica confirmó calidad: pruebas aprobadas y buena cobertura.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237744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seguir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pic>
        <p:nvPicPr>
          <p:cNvPr id="6" name="Image 1" descr="/tmp/icons/trending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2423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grupos más amplios durante un periodo académico completo.</a:t>
            </a:r>
            <a:endParaRPr lang="en-US" sz="1550" dirty="0"/>
          </a:p>
        </p:txBody>
      </p:sp>
      <p:pic>
        <p:nvPicPr>
          <p:cNvPr id="8" name="Image 2" descr="/tmp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3291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salas por área de interés y desafíos de productividad.</a:t>
            </a:r>
            <a:endParaRPr lang="en-US" sz="1550" dirty="0"/>
          </a:p>
        </p:txBody>
      </p:sp>
      <p:pic>
        <p:nvPicPr>
          <p:cNvPr id="10" name="Image 3" descr="/tmp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879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pruebas de integración end-to-end y wireframes desde el inicio.</a:t>
            </a:r>
            <a:endParaRPr lang="en-US" sz="1550" dirty="0"/>
          </a:p>
        </p:txBody>
      </p:sp>
      <p:pic>
        <p:nvPicPr>
          <p:cNvPr id="12" name="Image 4" descr="/tmp/icons/map-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5663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acuerdos con instituciones educativas de Loja.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7280" y="27432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“Sincronizar el enfoque de dos personas que no se conocen demuestra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tecnología también puede acompañar, no solo medir.”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plantilla_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108960" cy="7863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observaciones del tribunal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2026-10-18T05:20:17Z</dcterms:created>
  <dcterms:modified xsi:type="dcterms:W3CDTF">2026-10-18T05:20:17Z</dcterms:modified>
</cp:coreProperties>
</file>