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81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194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</a:t>
            </a:r>
            <a:endParaRPr lang="en-US" sz="72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2461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una plataforma web de concentración colaborativa online con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emparejamiento aleatorio para mejorar la productividad en las actividades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en la ciudad de Loja</a:t>
            </a:r>
            <a:endParaRPr lang="en-US" sz="17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4709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 </a:t>
            </a: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David Calle Hernández
</a:t>
            </a:r>
            <a:r>
              <a:rPr lang="en-US" sz="14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Carrera:  </a:t>
            </a: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
</a:t>
            </a:r>
            <a:r>
              <a:rPr lang="en-US" sz="14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 </a:t>
            </a: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David Paúl Rosales Herrera, Mgs.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Loja, octubre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5275"/>
          <a:stretch/>
        </p:blipFill>
        <p:spPr>
          <a:xfrm>
            <a:off x="457200" y="256032"/>
            <a:ext cx="51435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trata SINKA?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11247120" cy="3291840"/>
          </a:xfrm>
          <a:prstGeom prst="roundRect">
            <a:avLst>
              <a:gd name="adj" fmla="val 4444"/>
            </a:avLst>
          </a:prstGeom>
          <a:solidFill>
            <a:srgbClr val="EAF4F2"/>
          </a:solidFill>
          <a:ln/>
        </p:spPr>
      </p:sp>
      <p:pic>
        <p:nvPicPr>
          <p:cNvPr id="7" name="Image 1" descr="/tmp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880360"/>
            <a:ext cx="1005840" cy="1005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28346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colaborativa online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2148840" y="3429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personas que no se conocen, emparejadas al azar, enfocadas al mismo tiempo.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57200" y="4160520"/>
            <a:ext cx="3575304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1" name="Image 2" descr="/tmp/icons/map-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244" y="4361688"/>
            <a:ext cx="585216" cy="5852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50292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Loja, Ecuador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4306824" y="4160520"/>
            <a:ext cx="3575304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4" name="Image 3" descr="/tmp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868" y="4361688"/>
            <a:ext cx="585216" cy="58521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398264" y="50292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Emparejamiento aleatorio</a:t>
            </a: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8156448" y="4160520"/>
            <a:ext cx="3575304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7" name="Image 4" descr="/tmp/icons/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1492" y="4361688"/>
            <a:ext cx="585216" cy="58521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47888" y="50292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Pomodoro</a:t>
            </a:r>
            <a:endParaRPr lang="en-US" dirty="0"/>
          </a:p>
        </p:txBody>
      </p:sp>
      <p:sp>
        <p:nvSpPr>
          <p:cNvPr id="19" name="Text 12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8365"/>
          <a:stretch/>
        </p:blipFill>
        <p:spPr>
          <a:xfrm>
            <a:off x="457200" y="256032"/>
            <a:ext cx="51435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procrastinación digital, en tres escalas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3514344" cy="2834640"/>
          </a:xfrm>
          <a:prstGeom prst="roundRect">
            <a:avLst>
              <a:gd name="adj" fmla="val 4516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7" name="Image 1" descr="/tmp/icons/globe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154680"/>
            <a:ext cx="2965704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75,5%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714375" y="4117848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estudiantes a nivel mundial procrastinó en el último año (Kahoot!, 2024).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7304" y="2468880"/>
            <a:ext cx="3514344" cy="2834640"/>
          </a:xfrm>
          <a:prstGeom prst="roundRect">
            <a:avLst>
              <a:gd name="adj" fmla="val 4516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11" name="Image 2" descr="/tmp/icons/map-pi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624" y="27432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1624" y="3154680"/>
            <a:ext cx="2965704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</a:t>
            </a:r>
            <a:endParaRPr lang="en-US" sz="3800" dirty="0"/>
          </a:p>
        </p:txBody>
      </p:sp>
      <p:sp>
        <p:nvSpPr>
          <p:cNvPr id="13" name="Text 8"/>
          <p:cNvSpPr txBox="1"/>
          <p:nvPr/>
        </p:nvSpPr>
        <p:spPr>
          <a:xfrm>
            <a:off x="4597908" y="4003243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universitarios ecuatorianos con conductas procrastinadoras ligadas al estrés académico.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8217408" y="2468880"/>
            <a:ext cx="3514344" cy="2834640"/>
          </a:xfrm>
          <a:prstGeom prst="roundRect">
            <a:avLst>
              <a:gd name="adj" fmla="val 4516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15" name="Image 3" descr="/tmp/icons/target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1728" y="274320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91728" y="3154680"/>
            <a:ext cx="2965704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</a:t>
            </a:r>
            <a:endParaRPr lang="en-US" sz="3800" dirty="0"/>
          </a:p>
        </p:txBody>
      </p:sp>
      <p:sp>
        <p:nvSpPr>
          <p:cNvPr id="17" name="Text 11"/>
          <p:cNvSpPr txBox="1"/>
          <p:nvPr/>
        </p:nvSpPr>
        <p:spPr>
          <a:xfrm>
            <a:off x="8491728" y="4141274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investigación local sobre el tema — una brecha que este estudio atiende.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18% de las personas tiene un sistema formal de gestión del tiempo.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6229"/>
          <a:stretch/>
        </p:blipFill>
        <p:spPr>
          <a:xfrm>
            <a:off x="457200" y="256032"/>
            <a:ext cx="56515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general, cuatro pasos para llegar a él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33172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1F6F6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web de concentración colaborativa con emparejamiento aleatorio que mejore la productividad y reduzca la procrastinación.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9" name="Image 1" descr="/tmp/icons/book-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041" y="3630168"/>
            <a:ext cx="585216" cy="5852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29768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Fundamentar con literatura científica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344418" y="342900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2" name="Image 2" descr="/tmp/icons/bar-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259" y="3630168"/>
            <a:ext cx="585216" cy="5852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35858" y="429768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hábitos con una encuesta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231636" y="342900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5" name="Image 3" descr="/tmp/icons/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5477" y="3630168"/>
            <a:ext cx="585216" cy="5852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23076" y="429768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plataforma funcional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9118854" y="342900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8" name="Image 4" descr="/tmp/icons/check-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2695" y="3630168"/>
            <a:ext cx="585216" cy="58521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210294" y="429768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uso, aceptación y resultados</a:t>
            </a:r>
            <a:endParaRPr lang="en-US" sz="2000" dirty="0"/>
          </a:p>
        </p:txBody>
      </p:sp>
      <p:sp>
        <p:nvSpPr>
          <p:cNvPr id="20" name="Text 13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5694"/>
          <a:stretch/>
        </p:blipFill>
        <p:spPr>
          <a:xfrm>
            <a:off x="457200" y="256032"/>
            <a:ext cx="57785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Y TÉCNICAS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mixto + metodología híbrida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secuencial exploratorio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974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Cualitativo (observación y conversación) → Cuantitativo (encuesta estructurada).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3575304" cy="1234440"/>
          </a:xfrm>
          <a:prstGeom prst="roundRect">
            <a:avLst>
              <a:gd name="adj" fmla="val 8889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9" name="Image 1" descr="/tmp/icons/file-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244" y="3630168"/>
            <a:ext cx="585216" cy="5852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297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preguntas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4306824" y="3429000"/>
            <a:ext cx="3575304" cy="1234440"/>
          </a:xfrm>
          <a:prstGeom prst="roundRect">
            <a:avLst>
              <a:gd name="adj" fmla="val 8889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2" name="Image 2" descr="/tmp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868" y="3630168"/>
            <a:ext cx="585216" cy="5852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398264" y="4297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respuestas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8156448" y="3429000"/>
            <a:ext cx="3575304" cy="1234440"/>
          </a:xfrm>
          <a:prstGeom prst="roundRect">
            <a:avLst>
              <a:gd name="adj" fmla="val 8889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5" name="Image 3" descr="/tmp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492" y="3630168"/>
            <a:ext cx="585216" cy="5852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247888" y="4297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</a:t>
            </a:r>
            <a:endParaRPr lang="en-US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desarrollo: SCRUM + Extreme Programming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57200" y="5349240"/>
            <a:ext cx="3291840" cy="685800"/>
          </a:xfrm>
          <a:prstGeom prst="roundRect">
            <a:avLst>
              <a:gd name="adj" fmla="val 53333"/>
            </a:avLst>
          </a:prstGeom>
          <a:solidFill>
            <a:srgbClr val="EAF4F2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5720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Pre-Juego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3749040" y="53492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4251960" y="5349240"/>
            <a:ext cx="3291840" cy="685800"/>
          </a:xfrm>
          <a:prstGeom prst="roundRect">
            <a:avLst>
              <a:gd name="adj" fmla="val 53333"/>
            </a:avLst>
          </a:prstGeom>
          <a:solidFill>
            <a:srgbClr val="EAF4F2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25196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543800" y="53492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8046720" y="5349240"/>
            <a:ext cx="3291840" cy="685800"/>
          </a:xfrm>
          <a:prstGeom prst="roundRect">
            <a:avLst>
              <a:gd name="adj" fmla="val 53333"/>
            </a:avLst>
          </a:prstGeom>
          <a:solidFill>
            <a:srgbClr val="EAF4F2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04672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Post-Juego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7030"/>
          <a:stretch/>
        </p:blipFill>
        <p:spPr>
          <a:xfrm>
            <a:off x="457200" y="256032"/>
            <a:ext cx="54610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RESULTADOS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preguntas que más pesaron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560320"/>
            <a:ext cx="5454396" cy="3017520"/>
          </a:xfrm>
          <a:prstGeom prst="roundRect">
            <a:avLst>
              <a:gd name="adj" fmla="val 4242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7" name="Image 1" descr="/tmp/icons/clock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346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246120"/>
            <a:ext cx="4905756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76,4%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526280"/>
            <a:ext cx="4905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al menos una hora diaria en distracciones (Pregunta 1) — magnitud real del problema en Loja.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277356" y="2560320"/>
            <a:ext cx="5454396" cy="3017520"/>
          </a:xfrm>
          <a:prstGeom prst="roundRect">
            <a:avLst>
              <a:gd name="adj" fmla="val 4242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11" name="Image 2" descr="/tmp/icons/smile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76" y="28346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51676" y="3246120"/>
            <a:ext cx="4905756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49,1%</a:t>
            </a:r>
            <a:endParaRPr lang="en-US" sz="3800" dirty="0"/>
          </a:p>
        </p:txBody>
      </p:sp>
      <p:sp>
        <p:nvSpPr>
          <p:cNvPr id="13" name="Text 8"/>
          <p:cNvSpPr txBox="1"/>
          <p:nvPr/>
        </p:nvSpPr>
        <p:spPr>
          <a:xfrm>
            <a:off x="6551676" y="4526280"/>
            <a:ext cx="4905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mostró interés alto en una sesión Pomodoro junto a un desconocido (Pregunta 6) — valida la idea central de SINKA.</a:t>
            </a:r>
            <a:endParaRPr lang="en-US" dirty="0"/>
          </a:p>
        </p:txBody>
      </p:sp>
      <p:sp>
        <p:nvSpPr>
          <p:cNvPr id="14" name="Text 9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5694"/>
          <a:stretch/>
        </p:blipFill>
        <p:spPr>
          <a:xfrm>
            <a:off x="457200" y="256032"/>
            <a:ext cx="57785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ACCIÓN · 1 DE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SINKA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7" name="Image 1" descr="/tmp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041" y="2670048"/>
            <a:ext cx="585216" cy="5852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33756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Emparejamiento aleatorio por afinidad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3344418" y="246888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0" name="Image 2" descr="/tmp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259" y="2670048"/>
            <a:ext cx="585216" cy="5852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35858" y="333756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sincronizado entre ambos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6231636" y="246888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3" name="Image 3" descr="/tmp/icon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5477" y="2670048"/>
            <a:ext cx="585216" cy="5852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323076" y="333756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en foco · chat en descanso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9118854" y="2468880"/>
            <a:ext cx="2612898" cy="1828800"/>
          </a:xfrm>
          <a:prstGeom prst="roundRect">
            <a:avLst>
              <a:gd name="adj" fmla="val 6000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6" name="Image 4" descr="/tmp/icons/aw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2695" y="2670048"/>
            <a:ext cx="585216" cy="58521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210294" y="3337560"/>
            <a:ext cx="2430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FocusCoins, rachas y ranking</a:t>
            </a:r>
            <a:endParaRPr lang="en-US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estudio solitario en una experiencia acompañada.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6763"/>
          <a:stretch/>
        </p:blipFill>
        <p:spPr>
          <a:xfrm>
            <a:off x="457200" y="256032"/>
            <a:ext cx="55245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ACCIÓN · 2 DE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construyó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3028552"/>
            <a:ext cx="2544318" cy="2153412"/>
          </a:xfrm>
          <a:prstGeom prst="roundRect">
            <a:avLst>
              <a:gd name="adj" fmla="val 7000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7" name="Image 1" descr="/tmp/icons/repeat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02872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714352"/>
            <a:ext cx="199567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267564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dos semanas cada uno.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367278" y="3028551"/>
            <a:ext cx="2544318" cy="2182163"/>
          </a:xfrm>
          <a:prstGeom prst="roundRect">
            <a:avLst>
              <a:gd name="adj" fmla="val 7000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11" name="Image 2" descr="/tmp/icons/cloc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330287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41598" y="3714352"/>
            <a:ext cx="199567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3" name="Text 8"/>
          <p:cNvSpPr txBox="1"/>
          <p:nvPr/>
        </p:nvSpPr>
        <p:spPr>
          <a:xfrm>
            <a:off x="3529058" y="4315969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totales de construcción.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277356" y="3028551"/>
            <a:ext cx="2544318" cy="2182163"/>
          </a:xfrm>
          <a:prstGeom prst="roundRect">
            <a:avLst>
              <a:gd name="adj" fmla="val 7000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15" name="Image 3" descr="/tmp/icons/check-circle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676" y="330287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51676" y="3714352"/>
            <a:ext cx="199567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800" dirty="0"/>
          </a:p>
        </p:txBody>
      </p:sp>
      <p:sp>
        <p:nvSpPr>
          <p:cNvPr id="17" name="Text 11"/>
          <p:cNvSpPr txBox="1"/>
          <p:nvPr/>
        </p:nvSpPr>
        <p:spPr>
          <a:xfrm>
            <a:off x="6551675" y="4315969"/>
            <a:ext cx="22698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completadas.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9187434" y="3028551"/>
            <a:ext cx="2544318" cy="2182163"/>
          </a:xfrm>
          <a:prstGeom prst="roundRect">
            <a:avLst>
              <a:gd name="adj" fmla="val 7000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19" name="Image 4" descr="/tmp/icons/trending-up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1754" y="3302872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461754" y="3714352"/>
            <a:ext cx="199567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3800" dirty="0"/>
          </a:p>
        </p:txBody>
      </p:sp>
      <p:sp>
        <p:nvSpPr>
          <p:cNvPr id="21" name="Text 14"/>
          <p:cNvSpPr txBox="1"/>
          <p:nvPr/>
        </p:nvSpPr>
        <p:spPr>
          <a:xfrm>
            <a:off x="9461627" y="4281280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historia entregados.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7297"/>
          <a:stretch/>
        </p:blipFill>
        <p:spPr>
          <a:xfrm>
            <a:off x="457200" y="256032"/>
            <a:ext cx="53975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ACCIÓN · 3 DE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stack tecnológico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2035454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7" name="Image 1" descr="/tmp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319" y="2670048"/>
            <a:ext cx="585216" cy="5852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33756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2766974" y="2468880"/>
            <a:ext cx="2035454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0" name="Image 2" descr="/tmp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094" y="2670048"/>
            <a:ext cx="585216" cy="5852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858414" y="333756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(backend REST + WebSocket)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076749" y="2468880"/>
            <a:ext cx="2035454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3" name="Image 3" descr="/tmp/icon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868" y="2670048"/>
            <a:ext cx="585216" cy="5852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168189" y="333756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(cámara P2P, sin servidor)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7386523" y="2468880"/>
            <a:ext cx="2035454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6" name="Image 4" descr="/tmp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1642" y="2670048"/>
            <a:ext cx="585216" cy="58521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477963" y="333756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(Upstash)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9696298" y="2468880"/>
            <a:ext cx="2035454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 w="12700">
            <a:solidFill>
              <a:srgbClr val="D7E8E5"/>
            </a:solidFill>
            <a:prstDash val="solid"/>
          </a:ln>
        </p:spPr>
      </p:sp>
      <p:pic>
        <p:nvPicPr>
          <p:cNvPr id="19" name="Image 5" descr="/tmp/icons/git-bran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1417" y="2670048"/>
            <a:ext cx="585216" cy="58521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787738" y="333756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despliegue, costo $0</a:t>
            </a:r>
            <a:endParaRPr lang="en-US" sz="200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módulos de dominio comunicados por un bus de eventos interno.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5694"/>
          <a:stretch/>
        </p:blipFill>
        <p:spPr>
          <a:xfrm>
            <a:off x="457200" y="256032"/>
            <a:ext cx="57785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ACCIÓN · 4 DE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verificada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2468880"/>
            <a:ext cx="3514344" cy="2103120"/>
          </a:xfrm>
          <a:prstGeom prst="roundRect">
            <a:avLst>
              <a:gd name="adj" fmla="val 6087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7" name="Image 1" descr="/tmp/icons/check-circle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154680"/>
            <a:ext cx="2965704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731393" y="38862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funcionales aprobados.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7304" y="2468880"/>
            <a:ext cx="3514344" cy="2103120"/>
          </a:xfrm>
          <a:prstGeom prst="roundRect">
            <a:avLst>
              <a:gd name="adj" fmla="val 6087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11" name="Image 2" descr="/tmp/icons/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624" y="27432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1624" y="3154680"/>
            <a:ext cx="2965704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3800" dirty="0"/>
          </a:p>
        </p:txBody>
      </p:sp>
      <p:sp>
        <p:nvSpPr>
          <p:cNvPr id="13" name="Text 8"/>
          <p:cNvSpPr txBox="1"/>
          <p:nvPr/>
        </p:nvSpPr>
        <p:spPr>
          <a:xfrm>
            <a:off x="4590506" y="384048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pruebas automatizadas en servicios.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8217408" y="2468880"/>
            <a:ext cx="3514344" cy="2103120"/>
          </a:xfrm>
          <a:prstGeom prst="roundRect">
            <a:avLst>
              <a:gd name="adj" fmla="val 6087"/>
            </a:avLst>
          </a:prstGeom>
          <a:solidFill>
            <a:srgbClr val="1F6F6B"/>
          </a:solidFill>
          <a:ln/>
          <a:effectLst>
            <a:outerShdw blurRad="101600" dist="38100" dir="5400000" algn="bl" rotWithShape="0">
              <a:srgbClr val="1F6F6B">
                <a:alpha val="25000"/>
              </a:srgbClr>
            </a:outerShdw>
          </a:effectLst>
        </p:spPr>
      </p:sp>
      <p:pic>
        <p:nvPicPr>
          <p:cNvPr id="15" name="Image 3" descr="/tmp/icons/clock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1728" y="274320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91728" y="3154680"/>
            <a:ext cx="2965704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3800" dirty="0"/>
          </a:p>
        </p:txBody>
      </p:sp>
      <p:sp>
        <p:nvSpPr>
          <p:cNvPr id="17" name="Text 11"/>
          <p:cNvSpPr txBox="1"/>
          <p:nvPr/>
        </p:nvSpPr>
        <p:spPr>
          <a:xfrm>
            <a:off x="8491727" y="3828230"/>
            <a:ext cx="32398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P95 en la comunicación por WebSocket.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verificado de extremo a extremo con dos usuarios reales en producción.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7831"/>
          <a:stretch/>
        </p:blipFill>
        <p:spPr>
          <a:xfrm>
            <a:off x="457200" y="256032"/>
            <a:ext cx="52705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confirmó el proyecto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pic>
        <p:nvPicPr>
          <p:cNvPr id="6" name="Image 1" descr="/tmp/icons/book-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5059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2423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literatura revisada sustentó Pomodoro + emparejamiento como estrategia.</a:t>
            </a:r>
            <a:endParaRPr lang="en-US" sz="1550" dirty="0"/>
          </a:p>
        </p:txBody>
      </p:sp>
      <p:pic>
        <p:nvPicPr>
          <p:cNvPr id="8" name="Image 2" descr="/tmp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19272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43000" y="3291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encuesta a 106 personas validó la idea antes de construirla.</a:t>
            </a:r>
            <a:endParaRPr lang="en-US" sz="1550" dirty="0"/>
          </a:p>
        </p:txBody>
      </p:sp>
      <p:pic>
        <p:nvPicPr>
          <p:cNvPr id="10" name="Image 3" descr="/tmp/icons/check-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87952"/>
            <a:ext cx="384048" cy="38404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quedó en producción con los 6 sprints y 17 HU completados.</a:t>
            </a:r>
            <a:endParaRPr lang="en-US" sz="1550" dirty="0"/>
          </a:p>
        </p:txBody>
      </p:sp>
      <p:pic>
        <p:nvPicPr>
          <p:cNvPr id="12" name="Image 4" descr="/tmp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056632"/>
            <a:ext cx="384048" cy="38404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técnica confirmó calidad: pruebas aprobadas y buena cobertura.</a:t>
            </a:r>
            <a:endParaRPr lang="en-US" sz="1550" dirty="0"/>
          </a:p>
        </p:txBody>
      </p:sp>
      <p:sp>
        <p:nvSpPr>
          <p:cNvPr id="14" name="Text 7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3.png"/>
          <p:cNvPicPr>
            <a:picLocks noChangeAspect="1"/>
          </p:cNvPicPr>
          <p:nvPr/>
        </p:nvPicPr>
        <p:blipFill rotWithShape="1">
          <a:blip r:embed="rId3"/>
          <a:srcRect r="77030"/>
          <a:stretch/>
        </p:blipFill>
        <p:spPr>
          <a:xfrm>
            <a:off x="457200" y="256032"/>
            <a:ext cx="546100" cy="6035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seguir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1005840" cy="54864"/>
          </a:xfrm>
          <a:prstGeom prst="rect">
            <a:avLst/>
          </a:prstGeom>
          <a:solidFill>
            <a:srgbClr val="1F6F6B"/>
          </a:solidFill>
          <a:ln/>
        </p:spPr>
      </p:sp>
      <p:pic>
        <p:nvPicPr>
          <p:cNvPr id="6" name="Image 1" descr="/tmp/icons/trending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5059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2423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grupos más amplios durante un periodo académico completo.</a:t>
            </a:r>
            <a:endParaRPr lang="en-US" sz="1550" dirty="0"/>
          </a:p>
        </p:txBody>
      </p:sp>
      <p:pic>
        <p:nvPicPr>
          <p:cNvPr id="8" name="Image 2" descr="/tmp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19272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43000" y="3291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salas por área de interés y desafíos de productividad.</a:t>
            </a:r>
            <a:endParaRPr lang="en-US" sz="1550" dirty="0"/>
          </a:p>
        </p:txBody>
      </p:sp>
      <p:pic>
        <p:nvPicPr>
          <p:cNvPr id="10" name="Image 3" descr="/tmp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87952"/>
            <a:ext cx="384048" cy="38404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pruebas de integración end-to-end y wireframes desde el inicio.</a:t>
            </a:r>
            <a:endParaRPr lang="en-US" sz="1550" dirty="0"/>
          </a:p>
        </p:txBody>
      </p:sp>
      <p:pic>
        <p:nvPicPr>
          <p:cNvPr id="12" name="Image 4" descr="/tmp/icons/map-p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056632"/>
            <a:ext cx="384048" cy="38404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acuerdos con instituciones educativas de Loja.</a:t>
            </a:r>
            <a:endParaRPr lang="en-US" sz="1550" dirty="0"/>
          </a:p>
        </p:txBody>
      </p:sp>
      <p:sp>
        <p:nvSpPr>
          <p:cNvPr id="14" name="Text 7"/>
          <p:cNvSpPr txBox="1"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SINKA · ISTS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7280" y="274320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“Sincronizar el enfoque de dos personas que no se conocen demuestra</a:t>
            </a:r>
            <a:endParaRPr lang="en-US" sz="2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tecnología también puede acompañar, no solo medir.”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lantilla_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30666" y="2804159"/>
            <a:ext cx="10958286" cy="1738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 por su atención!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698</Words>
  <Application>Microsoft Office PowerPoint</Application>
  <PresentationFormat>Personalizado</PresentationFormat>
  <Paragraphs>138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Dave Street</cp:lastModifiedBy>
  <cp:revision>11</cp:revision>
  <dcterms:created xsi:type="dcterms:W3CDTF">2026-10-18T00:18:54Z</dcterms:created>
  <dcterms:modified xsi:type="dcterms:W3CDTF">2026-10-18T00:46:12Z</dcterms:modified>
</cp:coreProperties>
</file>